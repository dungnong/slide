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80000"/>
            <a:ext cx="12192119" cy="28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80000"/>
            <a:ext cx="144000" cy="288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2160000"/>
            <a:ext cx="1147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F4E79"/>
                </a:solidFill>
                <a:latin typeface="Times New Roman"/>
              </a:rPr>
              <a:t>KIẾN TRÚC SƯ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2951999"/>
            <a:ext cx="1147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  <a:latin typeface="Times New Roman"/>
              </a:rPr>
              <a:t>&amp; KHÔNG GIAN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3780000"/>
            <a:ext cx="1147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  <a:latin typeface="Times New Roman"/>
              </a:rPr>
              <a:t>Hoạt động giáo dục theo chủ đề – Lớp 6  |  2 tiết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192000"/>
            <a:ext cx="1147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4F0"/>
                </a:solidFill>
                <a:latin typeface="Times New Roman"/>
              </a:rPr>
              <a:t>Môn: Toán &amp; Tin học  |  Tích hợp GeoGebra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Mục tiêu chủ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00" y="792000"/>
            <a:ext cx="5580000" cy="558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864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imes New Roman"/>
              </a:rPr>
              <a:t>📐 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368000"/>
            <a:ext cx="54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Vận dụng công thức diện tích hình phẳng vào thực tiễn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Đo đạc &amp; tính diện tích bề mặt đồ vật thực tế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Bước đầu làm quen với ước lượng diện tích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0" y="792000"/>
            <a:ext cx="5868000" cy="5580000"/>
          </a:xfrm>
          <a:prstGeom prst="rect">
            <a:avLst/>
          </a:prstGeom>
          <a:solidFill>
            <a:srgbClr val="E2EFD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28000" y="864000"/>
            <a:ext cx="55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75C23"/>
                </a:solidFill>
                <a:latin typeface="Times New Roman"/>
              </a:rPr>
              <a:t>💻  TIN HỌC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8000" y="1368000"/>
            <a:ext cx="55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Sử dụng GeoGebra / Scratch để mô phỏng hình học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Dựng hình &amp; tính diện tích bằng công cụ số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Kiểm chứng kết quả thủ công qua công cụ số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Năng lực &amp; Phẩm chất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792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imes New Roman"/>
              </a:rPr>
              <a:t>🧠  Năng lực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1188000"/>
            <a:ext cx="117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Mô hình hoá toán học: chuyển vật thể thực → hình học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Giải quyết vấn đề: lựa chọn công thức &amp; công cụ phù hợp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Sử dụng công cụ &amp; phương tiện toán học (GeoGebra, Scratch…)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3311999"/>
            <a:ext cx="11832119" cy="25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3420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imes New Roman"/>
              </a:rPr>
              <a:t>💎  Phẩm chất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3851999"/>
            <a:ext cx="1170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Yêu nước: giữ gìn &amp; làm đẹp cảnh quan trường học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Trách nhiệm: hoàn thành nhiệm vụ nhóm; tiết kiệm nguyên vật liệu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Chăm chỉ: kiên trì đo đạc; tìm tòi tối ưu hoá công việc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Thiết bị &amp; Học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" y="827999"/>
            <a:ext cx="2160000" cy="324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108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latin typeface="Times New Roman"/>
              </a:rPr>
              <a:t>🖥️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2160000"/>
            <a:ext cx="2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F4E79"/>
                </a:solidFill>
                <a:latin typeface="Times New Roman"/>
              </a:rPr>
              <a:t>Máy tính xách tay
&amp; Tivi thông minh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4000" y="827999"/>
            <a:ext cx="2160000" cy="324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4000" y="108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latin typeface="Times New Roman"/>
              </a:rPr>
              <a:t>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4000" y="2160000"/>
            <a:ext cx="2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F4E79"/>
                </a:solidFill>
                <a:latin typeface="Times New Roman"/>
              </a:rPr>
              <a:t>Thước dây
&amp; Thước kẻ dài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4000" y="827999"/>
            <a:ext cx="2160000" cy="324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4000" y="108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latin typeface="Times New Roman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4000" y="2160000"/>
            <a:ext cx="2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F4E79"/>
                </a:solidFill>
                <a:latin typeface="Times New Roman"/>
              </a:rPr>
              <a:t>Máy tính cầm tay
(Casio)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4000" y="827999"/>
            <a:ext cx="2160000" cy="324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64000" y="108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latin typeface="Times New Roman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4000" y="2160000"/>
            <a:ext cx="2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F4E79"/>
                </a:solidFill>
                <a:latin typeface="Times New Roman"/>
              </a:rPr>
              <a:t>Giấy A0, A4
Bút dạ, Băng dính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4000" y="827999"/>
            <a:ext cx="2160000" cy="324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4000" y="108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latin typeface="Times New Roman"/>
              </a:rP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4000" y="2160000"/>
            <a:ext cx="2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F4E79"/>
                </a:solidFill>
                <a:latin typeface="Times New Roman"/>
              </a:rPr>
              <a:t>GeoGebra / Scratch
(phần mềm miễn phí)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Tiến trình tổ chức (2 tiết)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00" y="1440000"/>
            <a:ext cx="2312423" cy="126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548000"/>
            <a:ext cx="2312423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Mở đầu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980000"/>
            <a:ext cx="2312423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15'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" y="3060000"/>
            <a:ext cx="2312423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4E79"/>
                </a:solidFill>
                <a:latin typeface="Times New Roman"/>
              </a:rPr>
              <a:t>Flashcards – Khởi động</a:t>
            </a:r>
          </a:p>
        </p:txBody>
      </p:sp>
      <p:sp>
        <p:nvSpPr>
          <p:cNvPr id="8" name="Can 7"/>
          <p:cNvSpPr/>
          <p:nvPr/>
        </p:nvSpPr>
        <p:spPr>
          <a:xfrm>
            <a:off x="2420424" y="1872000"/>
            <a:ext cx="180000" cy="360000"/>
          </a:xfrm>
          <a:prstGeom prst="can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46423" y="1440000"/>
            <a:ext cx="2312423" cy="12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6423" y="1548000"/>
            <a:ext cx="2312423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Khám phá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6423" y="1980000"/>
            <a:ext cx="2312423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30'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6423" y="3060000"/>
            <a:ext cx="2312423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4E79"/>
                </a:solidFill>
                <a:latin typeface="Times New Roman"/>
              </a:rPr>
              <a:t>HĐ1: Thợ săn hình học</a:t>
            </a:r>
          </a:p>
        </p:txBody>
      </p:sp>
      <p:sp>
        <p:nvSpPr>
          <p:cNvPr id="13" name="Can 12"/>
          <p:cNvSpPr/>
          <p:nvPr/>
        </p:nvSpPr>
        <p:spPr>
          <a:xfrm>
            <a:off x="4786848" y="1872000"/>
            <a:ext cx="180000" cy="360000"/>
          </a:xfrm>
          <a:prstGeom prst="can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847" y="1440000"/>
            <a:ext cx="2312423" cy="126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2847" y="1548000"/>
            <a:ext cx="2312423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Rèn luyện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2847" y="1980000"/>
            <a:ext cx="2312423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25'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2847" y="3060000"/>
            <a:ext cx="2312423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4E79"/>
                </a:solidFill>
                <a:latin typeface="Times New Roman"/>
              </a:rPr>
              <a:t>HĐ2: Số hóa bản vẽ</a:t>
            </a:r>
          </a:p>
        </p:txBody>
      </p:sp>
      <p:sp>
        <p:nvSpPr>
          <p:cNvPr id="18" name="Can 17"/>
          <p:cNvSpPr/>
          <p:nvPr/>
        </p:nvSpPr>
        <p:spPr>
          <a:xfrm>
            <a:off x="7153272" y="1872000"/>
            <a:ext cx="180000" cy="360000"/>
          </a:xfrm>
          <a:prstGeom prst="can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9271" y="1440000"/>
            <a:ext cx="2312423" cy="12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9271" y="1548000"/>
            <a:ext cx="2312423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Vận dụng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9271" y="1980000"/>
            <a:ext cx="2312423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15'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9271" y="3060000"/>
            <a:ext cx="2312423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4E79"/>
                </a:solidFill>
                <a:latin typeface="Times New Roman"/>
              </a:rPr>
              <a:t>HĐ3 &amp; HĐ4: Thiết kế &amp; Đấu thầu</a:t>
            </a:r>
          </a:p>
        </p:txBody>
      </p:sp>
      <p:sp>
        <p:nvSpPr>
          <p:cNvPr id="23" name="Can 22"/>
          <p:cNvSpPr/>
          <p:nvPr/>
        </p:nvSpPr>
        <p:spPr>
          <a:xfrm>
            <a:off x="9519696" y="1872000"/>
            <a:ext cx="180000" cy="360000"/>
          </a:xfrm>
          <a:prstGeom prst="can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5695" y="1440000"/>
            <a:ext cx="2312423" cy="126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5695" y="1548000"/>
            <a:ext cx="2312423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Đánh giá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5695" y="1980000"/>
            <a:ext cx="2312423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5'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5695" y="3060000"/>
            <a:ext cx="2312423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4E79"/>
                </a:solidFill>
                <a:latin typeface="Times New Roman"/>
              </a:rPr>
              <a:t>Rubric + Chốt thông điệp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" y="5940000"/>
            <a:ext cx="1183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Times New Roman"/>
              </a:rPr>
              <a:t>⏱  Tổng: 90 phút  (2 tiết × 45 phút)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Khởi động: Trò chơi Flashcards  (15')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827999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Times New Roman"/>
              </a:rPr>
              <a:t>🃏  Luật chơi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1260000"/>
            <a:ext cx="68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1A1A1A"/>
                </a:solidFill>
                <a:latin typeface="Times New Roman"/>
              </a:rPr>
              <a:t>▪ Lớp chia nhóm 4–6 em theo tổ</a:t>
            </a:r>
          </a:p>
          <a:p>
            <a:pPr algn="l"/>
            <a:r>
              <a:rPr sz="2100">
                <a:solidFill>
                  <a:srgbClr val="1A1A1A"/>
                </a:solidFill>
                <a:latin typeface="Times New Roman"/>
              </a:rPr>
              <a:t>▪ Mỗi bức ảnh hiện trong 5–10 giây</a:t>
            </a:r>
          </a:p>
          <a:p>
            <a:pPr algn="l"/>
            <a:r>
              <a:rPr sz="2100">
                <a:solidFill>
                  <a:srgbClr val="1A1A1A"/>
                </a:solidFill>
                <a:latin typeface="Times New Roman"/>
              </a:rPr>
              <a:t>▪ Nhóm giơ tay nhanh + gọi đúng tên hình học → +1 điểm</a:t>
            </a:r>
          </a:p>
          <a:p>
            <a:pPr algn="l"/>
            <a:r>
              <a:rPr sz="2100">
                <a:solidFill>
                  <a:srgbClr val="1A1A1A"/>
                </a:solidFill>
                <a:latin typeface="Times New Roman"/>
              </a:rPr>
              <a:t>▪ Đoán sai → mất quyền trả lời tấm thẻ tiếp theo</a:t>
            </a:r>
          </a:p>
        </p:txBody>
      </p:sp>
      <p:sp>
        <p:nvSpPr>
          <p:cNvPr id="6" name="Rectangle 5"/>
          <p:cNvSpPr/>
          <p:nvPr/>
        </p:nvSpPr>
        <p:spPr>
          <a:xfrm>
            <a:off x="7560000" y="1260000"/>
            <a:ext cx="1007999" cy="144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0" y="1440000"/>
            <a:ext cx="1007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Times New Roman"/>
              </a:rPr>
              <a:t>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0" y="2088000"/>
            <a:ext cx="1007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E79"/>
                </a:solidFill>
                <a:latin typeface="Times New Roman"/>
              </a:rPr>
              <a:t>Hình thoi</a:t>
            </a:r>
          </a:p>
        </p:txBody>
      </p:sp>
      <p:sp>
        <p:nvSpPr>
          <p:cNvPr id="9" name="Rectangle 8"/>
          <p:cNvSpPr/>
          <p:nvPr/>
        </p:nvSpPr>
        <p:spPr>
          <a:xfrm>
            <a:off x="8676000" y="1260000"/>
            <a:ext cx="1007999" cy="144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76000" y="1440000"/>
            <a:ext cx="1007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Times New Roman"/>
              </a:rPr>
              <a:t>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6000" y="2088000"/>
            <a:ext cx="1007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E79"/>
                </a:solidFill>
                <a:latin typeface="Times New Roman"/>
              </a:rPr>
              <a:t>Hình vuông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92000" y="1260000"/>
            <a:ext cx="1007999" cy="144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0" y="1440000"/>
            <a:ext cx="1007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Times New Roman"/>
              </a:rPr>
              <a:t>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2000" y="2088000"/>
            <a:ext cx="1007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E79"/>
                </a:solidFill>
                <a:latin typeface="Times New Roman"/>
              </a:rPr>
              <a:t>Chữ nhật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08000" y="1260000"/>
            <a:ext cx="1007999" cy="144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08000" y="1440000"/>
            <a:ext cx="1007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Times New Roman"/>
              </a:rPr>
              <a:t>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2088000"/>
            <a:ext cx="1007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E79"/>
                </a:solidFill>
                <a:latin typeface="Times New Roman"/>
              </a:rPr>
              <a:t>Hình thang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5220000"/>
            <a:ext cx="115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E75B6"/>
                </a:solidFill>
                <a:latin typeface="Times New Roman"/>
              </a:rPr>
              <a:t>Nhịp độ 1 (Dễ): ảnh rõ ràng
Nhịp độ 2 – "Mắt Cú": ảnh cắt lớp / làm mờ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" y="6192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000"/>
                </a:solidFill>
                <a:latin typeface="Times New Roman"/>
              </a:rPr>
              <a:t>💰  Điểm tích lũy = vốn cho các hoạt động sau!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HĐ1: Thợ săn hình học  (30')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792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imes New Roman"/>
              </a:rPr>
              <a:t>📋  Nhiệm vụ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1188000"/>
            <a:ext cx="57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Di chuyển quanh khuôn viên trường (10–15 phút)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Chụp ≥ 4 đồ vật đại diện 4 hình khác nhau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Đo kích thước thực tế bằng thước dây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Ghi số liệu vào sổ tay / điện thoại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792000"/>
            <a:ext cx="5760000" cy="4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6048000"/>
            <a:ext cx="1183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2E75B6"/>
                </a:solidFill>
                <a:latin typeface="Times New Roman"/>
              </a:rPr>
              <a:t>🎯  Mỗi hình học đúng = 1 chiến lợi phẩm cho Thư viện hình học số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HĐ1: Ghi số liệu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792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imes New Roman"/>
              </a:rPr>
              <a:t>📊  Mẫu bảng – Thư viện hình học quanh 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1260000"/>
            <a:ext cx="11832119" cy="5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1296000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Đồ vật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0000" y="1296000"/>
            <a:ext cx="23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Hình dạng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1296000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Chiều dài (cm)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0000" y="1296000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Chiều rộng (cm)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1296000"/>
            <a:ext cx="28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Ghi chú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" y="1800000"/>
            <a:ext cx="11832119" cy="989999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" y="1908000"/>
            <a:ext cx="24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Bảng 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6000" y="1908000"/>
            <a:ext cx="22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Hình chữ nhật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6000" y="1908000"/>
            <a:ext cx="19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180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6000" y="1908000"/>
            <a:ext cx="19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6000" y="1908000"/>
            <a:ext cx="28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Đơn vị: cm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" y="2807999"/>
            <a:ext cx="11832119" cy="989999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2915999"/>
            <a:ext cx="24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Viên gạch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6000" y="2915999"/>
            <a:ext cx="22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Hình vuông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6000" y="2915999"/>
            <a:ext cx="19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6000" y="2915999"/>
            <a:ext cx="19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6000" y="2915999"/>
            <a:ext cx="28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Đường chéo 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000" y="3815998"/>
            <a:ext cx="11832119" cy="989999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" y="3923998"/>
            <a:ext cx="24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Bồn hoa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6000" y="3923998"/>
            <a:ext cx="22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Hình thoi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6000" y="3923998"/>
            <a:ext cx="19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d₁=16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6000" y="3923998"/>
            <a:ext cx="19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d₂=12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6000" y="3923998"/>
            <a:ext cx="28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Chụp từ trên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0000" y="4823997"/>
            <a:ext cx="11832119" cy="989999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6000" y="4931997"/>
            <a:ext cx="24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Cửa sổ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36000" y="4931997"/>
            <a:ext cx="22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Hình chữ nhật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6000" y="4931997"/>
            <a:ext cx="19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120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000" y="4931997"/>
            <a:ext cx="19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>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6000" y="4931997"/>
            <a:ext cx="280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Times New Roman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000" y="6192000"/>
            <a:ext cx="1183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2E75B6"/>
                </a:solidFill>
                <a:latin typeface="Times New Roman"/>
              </a:rPr>
              <a:t>✏️  Nhóm ghi thêm các đồ vật nhóm mình quan sát được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HĐ2: Số hóa bản vẽ – GeoGebra  (25')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00" y="827999"/>
            <a:ext cx="5754059" cy="136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899999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NV1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043999"/>
            <a:ext cx="474605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Times New Roman"/>
              </a:rPr>
              <a:t>Chèn ảnh vật thể làm nền vào GeoGebra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6059" y="827999"/>
            <a:ext cx="5754059" cy="136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14059" y="899999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NV2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6059" y="1043999"/>
            <a:ext cx="474605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Times New Roman"/>
              </a:rPr>
              <a:t>Đánh dấu đỉnh → nối thành hình (Đoạn thẳng / Đa giác)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267999"/>
            <a:ext cx="5754059" cy="136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2339999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NV3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2483999"/>
            <a:ext cx="474605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Times New Roman"/>
              </a:rPr>
              <a:t>Chỉnh tỉ lệ khớp với số liệu đo thực tế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6059" y="2267999"/>
            <a:ext cx="5754059" cy="136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4059" y="2339999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NV4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6059" y="2483999"/>
            <a:ext cx="474605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Times New Roman"/>
              </a:rPr>
              <a:t>Tính tay diện tích theo công thức phù hợp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000" y="3707999"/>
            <a:ext cx="5754059" cy="136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" y="3779999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NV5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923999"/>
            <a:ext cx="474605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Times New Roman"/>
              </a:rPr>
              <a:t>Dùng lệnh Area để GeoGebra tự tính diện tích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6059" y="3707999"/>
            <a:ext cx="5754059" cy="136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4059" y="3779999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NV6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6059" y="3923999"/>
            <a:ext cx="474605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Times New Roman"/>
              </a:rPr>
              <a:t>So sánh 2 kết quả – phân tích sai số (nếu có)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00" y="6120000"/>
            <a:ext cx="1183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Times New Roman"/>
              </a:rPr>
              <a:t>🔑  Công thức: Hình thoi S = ½d₁d₂  |  Hình thang S = (a+b)h/2  |  Hình vuông S = a²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HĐ2: Minh họa GeoGebra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92000"/>
            <a:ext cx="7920000" cy="46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52000" y="1260000"/>
            <a:ext cx="36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4E79"/>
                </a:solidFill>
                <a:latin typeface="Times New Roman"/>
              </a:rPr>
              <a:t>💡  Lệnh Area tự động tính
diện tích → so sánh
với kết quả tính tay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2000" y="3780000"/>
            <a:ext cx="3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E75B6"/>
                </a:solidFill>
                <a:latin typeface="Times New Roman"/>
              </a:rPr>
              <a:t>❓  Công cụ số giúp ích gì
trong kiểm tra tính toán?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Đối chiếu kết quả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92000"/>
            <a:ext cx="90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32000" y="900000"/>
            <a:ext cx="26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Times New Roman"/>
              </a:rPr>
              <a:t>📌  Nhận xét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2000" y="1368000"/>
            <a:ext cx="2628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1A1A1A"/>
                </a:solidFill>
                <a:latin typeface="Times New Roman"/>
              </a:rPr>
              <a:t>▪ Sai số do góc chụp</a:t>
            </a:r>
          </a:p>
          <a:p>
            <a:pPr algn="l"/>
            <a:r>
              <a:rPr sz="1700">
                <a:solidFill>
                  <a:srgbClr val="1A1A1A"/>
                </a:solidFill>
                <a:latin typeface="Times New Roman"/>
              </a:rPr>
              <a:t>▪ Sai số đo đơn vị</a:t>
            </a:r>
          </a:p>
          <a:p>
            <a:pPr algn="l"/>
            <a:r>
              <a:rPr sz="1700">
                <a:solidFill>
                  <a:srgbClr val="1A1A1A"/>
                </a:solidFill>
                <a:latin typeface="Times New Roman"/>
              </a:rPr>
              <a:t>▪ Thao tác điểm chưa chính xác</a:t>
            </a:r>
          </a:p>
          <a:p>
            <a:pPr algn="l"/>
            <a:r>
              <a:rPr sz="1700">
                <a:solidFill>
                  <a:srgbClr val="1A1A1A"/>
                </a:solidFill>
                <a:latin typeface="Times New Roman"/>
              </a:rPr>
              <a:t>▪ Kết quả gần như trùng khớp = thành công!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HĐ3: Thiết kế Gạch Nghệ Thuật  (15')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792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imes New Roman"/>
              </a:rPr>
              <a:t>📐  Phôi gạch hình vuông – cạnh 12 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1224000"/>
            <a:ext cx="7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NV1: Quan sát &amp; điền phiếu học tập (tính S gạch, S hình thoi, S cung tròn)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NV2: Thiết kế họa tiết (tam giác / thoi / chữ nhật) – kỹ thuật khăn trải bàn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Yêu cầu: Có tính đối xứng (≥ 1 trục)</a:t>
            </a:r>
          </a:p>
          <a:p>
            <a:pPr algn="l"/>
            <a:r>
              <a:rPr sz="2000">
                <a:solidFill>
                  <a:srgbClr val="1A1A1A"/>
                </a:solidFill>
                <a:latin typeface="Times New Roman"/>
              </a:rPr>
              <a:t>▪ Diện tích họa tiết &lt; 40% diện tích viên gạch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0" y="1080000"/>
            <a:ext cx="4680000" cy="4680000"/>
          </a:xfrm>
          <a:prstGeom prst="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856000" y="2016000"/>
            <a:ext cx="2808000" cy="2808000"/>
          </a:xfrm>
          <a:prstGeom prst="diamond">
            <a:avLst/>
          </a:prstGeom>
          <a:solidFill>
            <a:srgbClr val="2E75B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0" y="5868000"/>
            <a:ext cx="4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F4E79"/>
                </a:solidFill>
                <a:latin typeface="Times New Roman"/>
              </a:rPr>
              <a:t>4 trục đối xứng ✓
Họa tiết &lt; 40%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6120000"/>
            <a:ext cx="1183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Times New Roman"/>
              </a:rPr>
              <a:t>📝  S viên gạch = 12² = 144 cm²   |   40% × 144 = 57.6 cm²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HĐ4: Đấu thầu Thiết kế  (15')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00" y="900000"/>
            <a:ext cx="11832119" cy="180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008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Bước 1 – 3'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1116000"/>
            <a:ext cx="859211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Times New Roman"/>
              </a:rPr>
              <a:t>Xem lại diện tích khu vực đã đo (GeoGebra)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2808000"/>
            <a:ext cx="11832119" cy="18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2916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Bước 2 – 10'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0" y="3024000"/>
            <a:ext cx="859211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Times New Roman"/>
              </a:rPr>
              <a:t>Vẽ &amp; tính số viên gạch:
S khu vực ÷ S 1 viên = số viên cần dùng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4716000"/>
            <a:ext cx="11832119" cy="18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4824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Bước 3 – 5'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0" y="4932000"/>
            <a:ext cx="859211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Times New Roman"/>
              </a:rPr>
              <a:t>Triển lãm: dán mẫu gạch lên bảng
Ghi: khu vực + số lượng gạch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" y="6552000"/>
            <a:ext cx="1183211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Times New Roman"/>
              </a:rPr>
              <a:t>🏆  Nhóm thiết kế đẹp + tính toán chính xác sẽ được tôn vinh!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3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Đánh giá &amp; Chốt thông điệp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00" y="827999"/>
            <a:ext cx="11832119" cy="43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863999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Tiêu chí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6000" y="863999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Xuất sắc (3đ)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6000" y="863999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Hoàn thành (2đ)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6000" y="863999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Cần cải thiện (1đ)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259999"/>
            <a:ext cx="11832119" cy="989999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000" y="1367999"/>
            <a:ext cx="39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Mô hình toán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000" y="1367999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Đúng &amp; đầy đủ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6000" y="1367999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Sai sót nhỏ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00" y="1367999"/>
            <a:ext cx="21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Chưa rõ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" y="2267998"/>
            <a:ext cx="11832119" cy="989999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" y="2375998"/>
            <a:ext cx="39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Sử dụng GeoGebra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2375998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Thành thạo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6000" y="2375998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Cơ bản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6000" y="2375998"/>
            <a:ext cx="21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Chưa biết dùng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3275997"/>
            <a:ext cx="11832119" cy="989999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000" y="3383997"/>
            <a:ext cx="39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Sáng tạo – Thẩm mỹ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6000" y="3383997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Độc đáo, đẹp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6000" y="3383997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Khả thi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000" y="3383997"/>
            <a:ext cx="21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Đơn giản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0000" y="4283996"/>
            <a:ext cx="11832119" cy="989999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6000" y="4391996"/>
            <a:ext cx="39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Hợp tác &amp; Thuyết trình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6000" y="4391996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Chủ động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6000" y="4391996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Đúng nhiệm vụ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000" y="4391996"/>
            <a:ext cx="21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Thiếu phối hợp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0000" y="5291995"/>
            <a:ext cx="11832119" cy="989999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6000" y="5399995"/>
            <a:ext cx="39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Chính xác – Trình bày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6000" y="5399995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Chính xác, đẹp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6000" y="5399995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Rõ ràng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000" y="5399995"/>
            <a:ext cx="216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Nhiều lỗi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000" y="6156000"/>
            <a:ext cx="11832119" cy="61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000" y="6192000"/>
            <a:ext cx="1183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FFFFFF"/>
                </a:solidFill>
                <a:latin typeface="Times New Roman"/>
              </a:rPr>
              <a:t>"Toán học không chỉ là những con số – hôm nay, các em là những Kiến trúc sư thực thụ!"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