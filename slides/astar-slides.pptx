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2000"/>
            <a:ext cx="216000" cy="642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Thuật Toán A* (A-Star)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088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D166"/>
                </a:solidFill>
              </a:rPr>
              <a:t>Tìm Đường Ngắn Nhất trong Lưới 2D có Vật Cản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306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7B83"/>
                </a:solidFill>
              </a:rPr>
              <a:t>🔷  →  ■  →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78000"/>
            <a:ext cx="12193200" cy="10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5850001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7F8"/>
                </a:solidFill>
              </a:rPr>
              <a:t>Môn học: Trí Tuệ Nhân Tạo  |  Bài Tập Lớn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1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6A72"/>
                </a:solidFill>
              </a:rPr>
              <a:t>Python  +  Pygame  |  Heuristic: Manhattan Distance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Đặt Vấn Đề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220000" cy="46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48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• Robot kho bãi, drone, nhân vật game cần di chuyển tự động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• Di chuyển = đối mặt với chướng ngại vật phức tạp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• Sai lộ trình → va chạm, thiệt hại tài sản, đình trệ sản xuất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• Yêu cầu: tìm đường khả thi VÀ tối ưu nhất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0" y="1152000"/>
            <a:ext cx="5760000" cy="198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000" y="122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5"/>
                </a:solidFill>
              </a:rPr>
              <a:t>Ứng dụng thực tiễn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000" y="1655999"/>
            <a:ext cx="547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0D2B45"/>
                </a:solidFill>
              </a:rPr>
              <a:t>🤖 Robot logistics &amp; kho bãi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D2B45"/>
                </a:solidFill>
              </a:rPr>
              <a:t>🚁 Drone tự hành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D2B45"/>
                </a:solidFill>
              </a:rPr>
              <a:t>🎮 AI trong game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D2B45"/>
                </a:solidFill>
              </a:rPr>
              <a:t>🗺️ GPS &amp; bản đồ số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0D2B45"/>
                </a:solidFill>
              </a:rPr>
              <a:t>🚨 Cứu hộ nguy hiểm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00" y="3311999"/>
            <a:ext cx="5760000" cy="2448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8000" y="338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Thách thức cốt lõi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000" y="3780000"/>
            <a:ext cx="547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Làm thế nào để xác định lộ trình
NGẮN NHẤT và KHÉO LÉO NHẤT
trong không gian lưới 2D đầy
chướng ngại vật?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Mục Tiêu &amp; Giải Pháp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3600000" cy="288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368000"/>
            <a:ext cx="33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🎯 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908000"/>
            <a:ext cx="338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2B45"/>
                </a:solidFill>
              </a:rPr>
              <a:t>Nghiên cứu &amp; hiện thực hóa thuật toán A* giải bài toán tìm đường trong lưới 2D có vật cản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0000" y="1260000"/>
            <a:ext cx="3600000" cy="288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000" y="1368000"/>
            <a:ext cx="33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⚙️ Phương pháp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0" y="1908000"/>
            <a:ext cx="338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2B45"/>
                </a:solidFill>
              </a:rPr>
              <a:t>Kết hợp hàm Heuristic để giới hạn phạm vi tìm kiếm, khắc phục duyệt rỗng của Dijkstra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0" y="1260000"/>
            <a:ext cx="3600000" cy="288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000" y="1368000"/>
            <a:ext cx="33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💻 Triển khai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000" y="1908000"/>
            <a:ext cx="3384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2B45"/>
                </a:solidFill>
              </a:rPr>
              <a:t>Python + Pygame: giao diện trực quan, vẽ vật cản bằng chuột, mô phỏng từng bước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6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FD166"/>
                </a:solidFill>
              </a:rPr>
              <a:t>Đóng góp: Công cụ trực quan hóa A* – chuyển lý thuyết toán học thành hình ảnh dễ hiểu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Nội Dung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900000" cy="792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260000"/>
            <a:ext cx="9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45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8000" y="1260000"/>
            <a:ext cx="10080000" cy="792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2000" y="133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MỞ ĐẦU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2000" y="1656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7F8"/>
                </a:solidFill>
              </a:rPr>
              <a:t>Đặt vấn đề – Mục tiêu – Định hướng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268000"/>
            <a:ext cx="900000" cy="792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2268000"/>
            <a:ext cx="9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45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68000" y="2268000"/>
            <a:ext cx="10080000" cy="792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2000" y="234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</a:rPr>
              <a:t>CƠ SỞ LÝ THUYẾT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664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7F8"/>
                </a:solidFill>
              </a:rPr>
              <a:t>Đồ thị – Bài toán tìm đường – Thuật toán A*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276000"/>
            <a:ext cx="900000" cy="792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3276000"/>
            <a:ext cx="9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45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3276000"/>
            <a:ext cx="10080000" cy="792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12000" y="3348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THIẾT KẾ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672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7F8"/>
                </a:solidFill>
              </a:rPr>
              <a:t>Môi trường – Kiến trúc – Cài đặt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4283999"/>
            <a:ext cx="900000" cy="792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4283999"/>
            <a:ext cx="9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45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68000" y="4283999"/>
            <a:ext cx="10080000" cy="792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2000" y="4355999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THỰC NGHIỆM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4679999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7F8"/>
                </a:solidFill>
              </a:rPr>
              <a:t>3 kịch bản – Đánh giá hiệu suất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5292000"/>
            <a:ext cx="900000" cy="792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5292000"/>
            <a:ext cx="9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45"/>
                </a:solidFill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68000" y="5292000"/>
            <a:ext cx="10080000" cy="792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2000" y="536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</a:rPr>
              <a:t>KẾT LUẬN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2000" y="5688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7F8"/>
                </a:solidFill>
              </a:rPr>
              <a:t>Thành tựu – Hạn chế – Hướng phát triển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CƠ SỞ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Cấu Trúc Đồ Thị (Graph)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</a:rPr>
              <a:t>G = (V, 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728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• V – Vertices (đỉnh): vị trí hoặc trạng thái trong không gian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FFFFFF"/>
                </a:solidFill>
              </a:rPr>
              <a:t>• E – Edges (cạnh): liên kết / đường đi giữa các đỉnh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2880000"/>
            <a:ext cx="3600000" cy="126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2988000"/>
            <a:ext cx="33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45"/>
                </a:solidFill>
              </a:rPr>
              <a:t>Vô hướng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384000"/>
            <a:ext cx="33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B45"/>
                </a:solidFill>
              </a:rPr>
              <a:t>Cạnh 2 chiều đối xứng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8000" y="2880000"/>
            <a:ext cx="3600000" cy="126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6000" y="2988000"/>
            <a:ext cx="33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45"/>
                </a:solidFill>
              </a:rPr>
              <a:t>Có hướng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3384000"/>
            <a:ext cx="33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B45"/>
                </a:solidFill>
              </a:rPr>
              <a:t>Cạnh 1 chiều (cung)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2880000"/>
            <a:ext cx="3600000" cy="1260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000" y="2988000"/>
            <a:ext cx="33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45"/>
                </a:solidFill>
              </a:rPr>
              <a:t>Có trọng số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000" y="3384000"/>
            <a:ext cx="338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2B45"/>
                </a:solidFill>
              </a:rPr>
              <a:t>Chi phí/khoảng cách trên mỗi cạnh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442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6B35"/>
                </a:solidFill>
              </a:rPr>
              <a:t>→ Bài toán tìm đường dùng Đồ thị có trọng số trên lưới 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CƠ SỞ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Bài Toán Tìm Đường của Nhóm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400000" cy="450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Đặc điểm bài toán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692000"/>
            <a:ext cx="518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Không gian lưới 2D: 40×40 ô (tọa độ x, y)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Vật cản (Barrier): ô không thể đi qua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Điểm Start (cam) → Goal (xanh dương)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Heuristic: Khoảng cách Manhattan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Di chuyển: 4 hướng (Lên/Xuống/Trái/Phải)</a:t>
            </a:r>
          </a:p>
        </p:txBody>
      </p:sp>
      <p:pic>
        <p:nvPicPr>
          <p:cNvPr id="9" name="Picture 8" descr="a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152000"/>
            <a:ext cx="5580000" cy="45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CƠ SỞ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Thuật Toán A* (A-Star)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220000" cy="2700000"/>
          </a:xfrm>
          <a:prstGeom prst="rect">
            <a:avLst/>
          </a:prstGeom>
          <a:solidFill>
            <a:srgbClr val="4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❌ Tìm kiếm Mù (Blind 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728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BFS: duyệt toàn bộ đồng đều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Dijkstra: chính xác nhưng lãng phí tài nguyên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Duyệt cả vùng không cần thiết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152000"/>
            <a:ext cx="5580000" cy="2700000"/>
          </a:xfrm>
          <a:prstGeom prst="rect">
            <a:avLst/>
          </a:prstGeom>
          <a:solidFill>
            <a:srgbClr val="07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8000" y="122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</a:rPr>
              <a:t>✅ A* – Tìm kiếm Có Thông 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8000" y="1728000"/>
            <a:ext cx="54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Dùng Heuristic định hướng đến đích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Thu hẹp đáng kể không gian tìm kiếm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Vẫn đảm bảo tìm đường ngắn nhất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0000" y="1980000"/>
            <a:ext cx="360000" cy="108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0000" y="2268000"/>
            <a:ext cx="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5"/>
                </a:solidFill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14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166"/>
                </a:solidFill>
              </a:rPr>
              <a:t>A* = Chi phí thực tế g(n)  +  Ước lượng Heuristic h(n)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6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A6A72"/>
                </a:solidFill>
              </a:rPr>
              <a:t>Thuật toán A* được công bố bởi Hart, Nilsson &amp; Raphael (1968) – IEEE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CƠ SỞ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7B83"/>
                </a:solidFill>
              </a:rPr>
              <a:t>Hàm Đánh Giá  f(n) = g(n) + h(n)</a:t>
            </a:r>
          </a:p>
        </p:txBody>
      </p:sp>
      <p:pic>
        <p:nvPicPr>
          <p:cNvPr id="6" name="Picture 5" descr="astar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52000"/>
            <a:ext cx="11340000" cy="41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5472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D166"/>
                </a:solidFill>
              </a:rPr>
              <a:t>Điều kiện tối ưu: h(n) ≤ chi phí thực tế → A* đảm bảo tìm đường NGẮN NHẤT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CƠ SỞ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Các Hàm Heuristic</a:t>
            </a:r>
          </a:p>
        </p:txBody>
      </p:sp>
      <p:pic>
        <p:nvPicPr>
          <p:cNvPr id="6" name="Picture 5" descr="astar_heur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340000" cy="37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4968000"/>
            <a:ext cx="1116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F0F7F8"/>
                </a:solidFill>
              </a:rPr>
              <a:t>• Chebyshev: di chuyển 8 hướng, chi phí chéo = chi phí ngang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0F7F8"/>
                </a:solidFill>
              </a:rPr>
              <a:t>• Octile: tối ưu nhất cho 8 hướng khi chi phí chéo = √2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0F7F8"/>
                </a:solidFill>
              </a:rPr>
              <a:t>• → Nhóm dùng Manhattan vì môi trường di chuyển 4 hướng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CƠ SỞ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Quy Trình Hoạt Động của A*</a:t>
            </a:r>
          </a:p>
        </p:txBody>
      </p:sp>
      <p:pic>
        <p:nvPicPr>
          <p:cNvPr id="6" name="Picture 5" descr="asta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6840000" cy="48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60000" y="1080000"/>
            <a:ext cx="4140000" cy="19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8000" y="1152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B83"/>
                </a:solidFill>
              </a:rPr>
              <a:t>Open List (Tập mở)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8000" y="1548000"/>
            <a:ext cx="39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7F8"/>
                </a:solidFill>
              </a:rPr>
              <a:t>Các nút đã phát hiện,
chưa được duyệt xong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0000" y="3240000"/>
            <a:ext cx="4140000" cy="19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8000" y="3311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Closed List (Tập đóng)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8000" y="3708000"/>
            <a:ext cx="39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7F8"/>
                </a:solidFill>
              </a:rPr>
              <a:t>Các nút đã duyệt xong.
Không xét lại để tránh
vòng lặp vô tận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166"/>
                </a:solidFill>
              </a:rPr>
              <a:t>Môi Trường &amp; Thiết Lập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2772000" cy="198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33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🐍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98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Xử lý thuật toán
linh hoạt, nhanh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1999" y="1260000"/>
            <a:ext cx="2772000" cy="198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999" y="133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🎮 Pygame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999" y="198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Đồ họa lưới 2D
&amp; sự kiện chuột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999" y="1260000"/>
            <a:ext cx="2772000" cy="1980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1999" y="133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🗺️ Lưới 40×40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1999" y="198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800×800 px
1600 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6000" y="1260000"/>
            <a:ext cx="2772000" cy="198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4000" y="133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📐 Manhattan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4000" y="198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Heuristic 4 hướng
tối ưu cho lưới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491999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Quy ước màu sắc hiển thị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960000"/>
            <a:ext cx="3708000" cy="684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3996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7F8"/>
                </a:solidFill>
              </a:rPr>
              <a:t>🟠 Cam – 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" y="4284000"/>
            <a:ext cx="34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2"/>
                </a:solidFill>
              </a:rPr>
              <a:t>Điểm xuất phát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8000" y="3960000"/>
            <a:ext cx="3708000" cy="684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6000" y="3996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7F8"/>
                </a:solidFill>
              </a:rPr>
              <a:t>🔵 Xanh –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6000" y="4284000"/>
            <a:ext cx="34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2"/>
                </a:solidFill>
              </a:rPr>
              <a:t>Điểm đích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6000" y="3960000"/>
            <a:ext cx="3708000" cy="684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4000" y="3996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7F8"/>
                </a:solidFill>
              </a:rPr>
              <a:t>⬛ Đen – Barrier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4000" y="4284000"/>
            <a:ext cx="34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2"/>
                </a:solidFill>
              </a:rPr>
              <a:t>Vật cản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752000"/>
            <a:ext cx="3708000" cy="684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78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7F8"/>
                </a:solidFill>
              </a:rPr>
              <a:t>🟢 Xanh lá – 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" y="5076000"/>
            <a:ext cx="34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2"/>
                </a:solidFill>
              </a:rPr>
              <a:t>Đang xếp hàng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8000" y="4752000"/>
            <a:ext cx="3708000" cy="684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6000" y="478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7F8"/>
                </a:solidFill>
              </a:rPr>
              <a:t>🔴 Đỏ – Closed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6000" y="5076000"/>
            <a:ext cx="34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2"/>
                </a:solidFill>
              </a:rPr>
              <a:t>Đã duyệt xong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6000" y="4752000"/>
            <a:ext cx="3708000" cy="684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4000" y="4788000"/>
            <a:ext cx="20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F7F8"/>
                </a:solidFill>
              </a:rPr>
              <a:t>🟣 Tím –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4000" y="5076000"/>
            <a:ext cx="34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2"/>
                </a:solidFill>
              </a:rPr>
              <a:t>Đường đi tối ưu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166"/>
                </a:solidFill>
              </a:rPr>
              <a:t>Kiến Trúc &amp; Cấu Trúc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400000" cy="23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1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45"/>
                </a:solidFill>
              </a:rPr>
              <a:t>Priority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728000"/>
            <a:ext cx="518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2B45"/>
                </a:solidFill>
              </a:rPr>
              <a:t>Lấy nút có f(n) nhỏ nhất trong O(log n)
Đảm bảo luôn chọn nút tốt nhất để mở rộng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1152000"/>
            <a:ext cx="5400000" cy="234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0" y="1224000"/>
            <a:ext cx="51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45"/>
                </a:solidFill>
              </a:rPr>
              <a:t>Hash Set (open_set_hash)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000" y="1728000"/>
            <a:ext cx="5184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2B45"/>
                </a:solidFill>
              </a:rPr>
              <a:t>Kiểm tra nút trong Open List trong O(1)
Loại bỏ trùng lặp siêu nhanh, tránh duyệt lại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671999"/>
            <a:ext cx="11340000" cy="2088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374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Giao diện người dùng (UI)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4176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Click trái: vẽ Start → End → Barrier (vật cản)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Click phải: xóa ô đã vẽ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Phím SPACE: bắt đầu chạy thuật toán A*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Hoạt ảnh (animation) cập nhật từng khung hình – quan sát ra quyết định thời gian thực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Kịch Bản 1: Không Gian Trống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220000" cy="46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📋 Mô tả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692000"/>
            <a:ext cx="50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7F8"/>
                </a:solidFill>
              </a:rPr>
              <a:t>Start: góc trên trái
Goal: góc dưới phải
Không có vật cản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8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</a:rPr>
              <a:t>📊 Nhận xét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240000"/>
            <a:ext cx="50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7F8"/>
                </a:solidFill>
              </a:rPr>
              <a:t>Nhiều đường cùng chi phí tối ưu → thuật toán duyệt vùng rộng (màu đỏ)
Đường đi cuối cùng (màu tím) men theo mép trên và mép phải không gian</a:t>
            </a:r>
          </a:p>
        </p:txBody>
      </p:sp>
      <p:pic>
        <p:nvPicPr>
          <p:cNvPr id="11" name="Picture 10" descr="a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152000"/>
            <a:ext cx="5760000" cy="468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Kịch Bản 2: Không Gian Bị Chia Cắt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220000" cy="46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📋 Mô tả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692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7F8"/>
                </a:solidFill>
              </a:rPr>
              <a:t>Tường hình ✚ lớn chia cắt
Start và Goal
Chỉ có 1 lối thoát hẹp ở mép phải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95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</a:rPr>
              <a:t>📊 Nhận xét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420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7F8"/>
                </a:solidFill>
              </a:rPr>
              <a:t>A* lan rộng tìm khe hở → ngay khi phát hiện hành lang, hội tụ tức thì
Đường đi (tím) vòng qua rìa tường chính xác</a:t>
            </a:r>
          </a:p>
        </p:txBody>
      </p:sp>
      <p:pic>
        <p:nvPicPr>
          <p:cNvPr id="11" name="Picture 10" descr="a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152000"/>
            <a:ext cx="5760000" cy="468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Kịch Bản 3: Mê Cung Phức Tạp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220000" cy="4680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📋 Mô tả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692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7F8"/>
                </a:solidFill>
              </a:rPr>
              <a:t>Nhiều tường chằng chịt
Tạo ngõ cụt (dead-end)
Hành lang hẹp dạng ziczac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95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83"/>
                </a:solidFill>
              </a:rPr>
              <a:t>📊 Nhận xét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420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7F8"/>
                </a:solidFill>
              </a:rPr>
              <a:t>A* vào các nhánh phụ nhưng KHÔNG bị lạc
Phản hồi gần như tức thời nhờ PriorityQueue + Hash Set
Đường đi (tím) len lỏi qua khúc cua hoàn hảo</a:t>
            </a:r>
          </a:p>
        </p:txBody>
      </p:sp>
      <p:pic>
        <p:nvPicPr>
          <p:cNvPr id="11" name="Picture 10" descr="a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152000"/>
            <a:ext cx="5760000" cy="468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35"/>
                </a:solidFill>
              </a:rPr>
              <a:t>Đánh Giá Kết Quả Chung</a:t>
            </a:r>
          </a:p>
        </p:txBody>
      </p:sp>
      <p:pic>
        <p:nvPicPr>
          <p:cNvPr id="6" name="Picture 5" descr="asta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52000"/>
            <a:ext cx="11340000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4536000"/>
            <a:ext cx="113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Tính chính xác: Luôn tìm được đường đi ngắn nhất, truy vết came_from không lỗi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Hiệu năng: PriorityQueue O(log n) + Hash Set O(1) → phản hồi tức thời dù 1600 Node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• Giao diện: Hoạt ảnh mượt mà, thao tác click trực quan, dễ quan sát cơ chế A*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Tổng Kết Kết Quả Đạt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3708000" cy="360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332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📐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872000"/>
            <a:ext cx="3491999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Hệ thống hóa đầy đủ nguyên lý A*
Hàm f(n)=g(n)+h(n) và hàm Heuristic Manhattan
So sánh với Dijkstra, BFS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8000" y="1260000"/>
            <a:ext cx="3708000" cy="360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6000" y="1332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💻 Ứng dụng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872000"/>
            <a:ext cx="3491999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Chương trình Python + Pygame hoàn chỉnh
Giao diện trực quan, tương tác chuột
Mô phỏng từng bước lan tỏa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6000" y="1260000"/>
            <a:ext cx="3708000" cy="3600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4000" y="1332000"/>
            <a:ext cx="349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5"/>
                </a:solidFill>
              </a:rPr>
              <a:t>⚡ Hiệu suất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4000" y="1872000"/>
            <a:ext cx="3491999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2B45"/>
                </a:solidFill>
              </a:rPr>
              <a:t>PriorityQueue + Hash Set kép
Phản hồi tức thời trong mọi kịch bản
Đường đi tối ưu 100% độ chính xác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5112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FFD166"/>
                </a:solidFill>
              </a:rPr>
              <a:t>✅ Đề tài hoàn thành mục tiêu: Công cụ trực quan hóa A* – lý thuyết toán học → hình ảnh dễ hiểu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Hạn Chế &amp;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5220000" cy="3780000"/>
          </a:xfrm>
          <a:prstGeom prst="rect">
            <a:avLst/>
          </a:prstGeom>
          <a:solidFill>
            <a:srgbClr val="4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</a:rPr>
              <a:t>⚠️ Hạn chế hiện tại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728000"/>
            <a:ext cx="504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Chỉ di chuyển 4 hướng → đường bậc thang cứng nhắc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Môi trường tĩnh – chưa xử lý vật cản di động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Lưới kích thước cố định 40×40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152000"/>
            <a:ext cx="5580000" cy="3780000"/>
          </a:xfrm>
          <a:prstGeom prst="rect">
            <a:avLst/>
          </a:prstGeom>
          <a:solidFill>
            <a:srgbClr val="07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8000" y="122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B83"/>
                </a:solidFill>
              </a:rPr>
              <a:t>🚀 Hướng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8000" y="1728000"/>
            <a:ext cx="54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Mở rộng 8 hướng: Chebyshev / Octile heuristic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Path Smoothing: làm mịn đường đi tự nhiên hơn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D* / LPA*: xử lý vật cản di động thời gian thực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0F7F8"/>
                </a:solidFill>
              </a:rPr>
              <a:t>• Tùy chỉnh kích thước lưới &amp; import bản đồ ngoài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5220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D166"/>
                </a:solidFill>
              </a:rPr>
              <a:t>Mục tiêu xa hơn: ứng dụng cho robot kho bãi, drone tự hành và hệ thống tự hành thực tế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7B83"/>
                </a:solidFill>
              </a:rPr>
              <a:t>Tài Liệu Tham Khảo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188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[1] Từ Minh Phương (2015). Giáo trình Nhập môn Trí tuệ nhân tạo. PTIT.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890000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926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[2] Hart, Nilsson &amp; Raphael (1968). A Formal Basis for Heuristic Determination of Min Cost Paths. IEEE.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628000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[3] Stuart Russell &amp; Peter Norvig (2020). Artificial Intelligence: A Modern Approach (4th Ed.). Pearson.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366000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3402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[4] Pygame Community. Pygame Documentation. https://www.pygame.org/docs/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4103999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4139999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[5] Amit Patel. Introduction to A* Algorithm. Red Blob Games.
     https://www.redblobgames.com/pathfinding/a-star/introduction.html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842000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4878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[6] Magnus Lie Hetland (2014). Python Algorithms. Apress.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580000"/>
            <a:ext cx="11340000" cy="666000"/>
          </a:xfrm>
          <a:prstGeom prst="rect">
            <a:avLst/>
          </a:prstGeom>
          <a:solidFill>
            <a:srgbClr val="07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5616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8"/>
                </a:solidFill>
              </a:rPr>
              <a:t>[7] Mã nguồn thực nghiệm: https://github.com/Vu52Hz/Thuat_Toan_A_Star.git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3200" y="65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72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0000"/>
            <a:ext cx="288000" cy="631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Xin Cảm Ơn!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48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007B83"/>
                </a:solidFill>
              </a:rPr>
              <a:t>Thank You for Listening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3240000"/>
            <a:ext cx="7920000" cy="54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352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166"/>
                </a:solidFill>
              </a:rPr>
              <a:t>📌  Mọi thắc mắc xin vui lòng đặt câu hỏi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4500000"/>
            <a:ext cx="1800000" cy="5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45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5"/>
                </a:solidFill>
              </a:rPr>
              <a:t>A* Algorithm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0" y="4500000"/>
            <a:ext cx="1800000" cy="5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0000" y="45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5"/>
                </a:solidFill>
              </a:rPr>
              <a:t>Python + Pygame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0000" y="4500000"/>
            <a:ext cx="1800000" cy="5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0" y="45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5"/>
                </a:solidFill>
              </a:rPr>
              <a:t>Heuristic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4500000"/>
            <a:ext cx="1800000" cy="5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0" y="45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5"/>
                </a:solidFill>
              </a:rPr>
              <a:t>Pathfinding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0000" y="4500000"/>
            <a:ext cx="1800000" cy="5400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0000" y="45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5"/>
                </a:solidFill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621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A6A72"/>
                </a:solidFill>
              </a:rPr>
              <a:t>Môn học: Trí Tuệ Nhân Tạo  |  Thuật toán A* – Tìm đường trong lưới 2D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